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1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image" Target="../media/image-3-6.png"/><Relationship Id="rId7" Type="http://schemas.openxmlformats.org/officeDocument/2006/relationships/image" Target="../media/image-3-4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3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7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E2E52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457200"/>
            <a:ext cx="2194560" cy="21945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85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PROPOSAL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1430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Aspirants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Competitive Exam Tracking &amp; Notification System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web platform that helps competitive-exam aspirants track registrations, exam dates, admit cards, and results — with timely WhatsApp alerts delivered straight to a personalized dashboard.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6537960" cy="1417320"/>
          </a:xfrm>
          <a:prstGeom prst="roundRect">
            <a:avLst>
              <a:gd name="adj" fmla="val 7742"/>
            </a:avLst>
          </a:prstGeom>
          <a:solidFill>
            <a:srgbClr val="1E2E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Guddu Kumar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25MCC20048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4617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Pathania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25MCC20057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75320" y="1051560"/>
            <a:ext cx="3246120" cy="5074920"/>
          </a:xfrm>
          <a:prstGeom prst="roundRect">
            <a:avLst>
              <a:gd name="adj" fmla="val 3944"/>
            </a:avLst>
          </a:prstGeom>
          <a:solidFill>
            <a:srgbClr val="0F1930"/>
          </a:solidFill>
          <a:ln w="12700">
            <a:solidFill>
              <a:srgbClr val="2637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49640" y="1280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95360" y="173736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0" descr="icons/user_gradu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3368" y="1895368"/>
            <a:ext cx="342351" cy="342351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418320" y="18653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Selection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595360" y="2788920"/>
            <a:ext cx="658368" cy="65836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1" descr="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368" y="2946928"/>
            <a:ext cx="342351" cy="342351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418320" y="29169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Notifications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8595360" y="384048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368" y="3998488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418320" y="39684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Dashboard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8595360" y="4892040"/>
            <a:ext cx="658368" cy="65836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3368" y="505004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18320" y="50200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Calendar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competitive-exam aspirants struggle today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9893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4533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793" y="1641897"/>
            <a:ext cx="209215" cy="20921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173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information is scattered across multiple official websites.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893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235000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793" y="244656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2219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repeatedly check different portals for updates.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026664"/>
            <a:ext cx="59893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" y="315468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93" y="3251241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302666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deadlines and notifications can easily be missed.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831336"/>
            <a:ext cx="59893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13232" y="395935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93" y="4055913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8313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exam follows a different registration, admit-card, and result schedule.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636008"/>
            <a:ext cx="59893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3232" y="47640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93" y="4860585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80160" y="463600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personalized platform exists to track selected examinations.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903720" y="1417320"/>
            <a:ext cx="4754880" cy="4709160"/>
          </a:xfrm>
          <a:prstGeom prst="roundRect">
            <a:avLst>
              <a:gd name="adj" fmla="val 2718"/>
            </a:avLst>
          </a:prstGeom>
          <a:solidFill>
            <a:srgbClr val="EAF1F5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178040" y="1627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7315200" y="2057400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479792" y="220370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4432" y="2298344"/>
            <a:ext cx="231343" cy="23134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046720" y="205740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Exam Websites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9162288" y="2807208"/>
            <a:ext cx="237744" cy="29260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31" name="Shape 23"/>
          <p:cNvSpPr/>
          <p:nvPr/>
        </p:nvSpPr>
        <p:spPr>
          <a:xfrm>
            <a:off x="7315200" y="3099816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479792" y="324612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6" descr="icons/clip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4432" y="3340760"/>
            <a:ext cx="231343" cy="23134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046720" y="309981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Checking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9162288" y="3849624"/>
            <a:ext cx="237744" cy="29260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36" name="Shape 27"/>
          <p:cNvSpPr/>
          <p:nvPr/>
        </p:nvSpPr>
        <p:spPr>
          <a:xfrm>
            <a:off x="7315200" y="4142232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7479792" y="4288536"/>
            <a:ext cx="420624" cy="420624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8" name="Image 7" descr="icons/warnin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74432" y="4383176"/>
            <a:ext cx="231343" cy="231343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046720" y="414223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Updates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9162288" y="4892040"/>
            <a:ext cx="237744" cy="29260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41" name="Shape 31"/>
          <p:cNvSpPr/>
          <p:nvPr/>
        </p:nvSpPr>
        <p:spPr>
          <a:xfrm>
            <a:off x="7315200" y="5184648"/>
            <a:ext cx="3931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B24A3A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7479792" y="5330952"/>
            <a:ext cx="420624" cy="420624"/>
          </a:xfrm>
          <a:prstGeom prst="ellipse">
            <a:avLst/>
          </a:prstGeom>
          <a:solidFill>
            <a:srgbClr val="B24A3A"/>
          </a:solidFill>
          <a:ln/>
        </p:spPr>
      </p:sp>
      <p:pic>
        <p:nvPicPr>
          <p:cNvPr id="43" name="Image 8" descr="icons/bra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4432" y="5425592"/>
            <a:ext cx="231343" cy="231343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046720" y="518464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&amp; Confusion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&amp;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Aspirants brings every exam update to one personalized platform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05610" cy="1143000"/>
          </a:xfrm>
          <a:prstGeom prst="roundRect">
            <a:avLst>
              <a:gd name="adj" fmla="val 9600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208837" y="1563624"/>
            <a:ext cx="585216" cy="585216"/>
          </a:xfrm>
          <a:prstGeom prst="ellipse">
            <a:avLst/>
          </a:prstGeom>
          <a:solidFill>
            <a:srgbClr val="0E4A66"/>
          </a:solidFill>
          <a:ln/>
        </p:spPr>
      </p:sp>
      <p:pic>
        <p:nvPicPr>
          <p:cNvPr id="6" name="Image 0" descr="icons/user_gradu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10" y="1695298"/>
            <a:ext cx="321869" cy="3218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167128"/>
            <a:ext cx="1905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481682" y="1869948"/>
            <a:ext cx="329184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2838298" y="1417320"/>
            <a:ext cx="1905610" cy="1143000"/>
          </a:xfrm>
          <a:prstGeom prst="roundRect">
            <a:avLst>
              <a:gd name="adj" fmla="val 9600"/>
            </a:avLst>
          </a:prstGeom>
          <a:solidFill>
            <a:srgbClr val="065A82"/>
          </a:solidFill>
          <a:ln/>
        </p:spPr>
      </p:sp>
      <p:sp>
        <p:nvSpPr>
          <p:cNvPr id="10" name="Shape 7"/>
          <p:cNvSpPr/>
          <p:nvPr/>
        </p:nvSpPr>
        <p:spPr>
          <a:xfrm>
            <a:off x="3498494" y="1563624"/>
            <a:ext cx="585216" cy="585216"/>
          </a:xfrm>
          <a:prstGeom prst="ellipse">
            <a:avLst/>
          </a:prstGeom>
          <a:solidFill>
            <a:srgbClr val="0E4A66"/>
          </a:solidFill>
          <a:ln/>
        </p:spPr>
      </p:sp>
      <p:pic>
        <p:nvPicPr>
          <p:cNvPr id="11" name="Image 1" descr="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695298"/>
            <a:ext cx="321869" cy="32186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38298" y="2167128"/>
            <a:ext cx="1905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771339" y="1869948"/>
            <a:ext cx="329184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0"/>
          <p:cNvSpPr/>
          <p:nvPr/>
        </p:nvSpPr>
        <p:spPr>
          <a:xfrm>
            <a:off x="5127955" y="1417320"/>
            <a:ext cx="1905610" cy="1143000"/>
          </a:xfrm>
          <a:prstGeom prst="roundRect">
            <a:avLst>
              <a:gd name="adj" fmla="val 9600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5788152" y="1563624"/>
            <a:ext cx="585216" cy="585216"/>
          </a:xfrm>
          <a:prstGeom prst="ellipse">
            <a:avLst/>
          </a:prstGeom>
          <a:solidFill>
            <a:srgbClr val="0E4A66"/>
          </a:solidFill>
          <a:ln/>
        </p:spPr>
      </p:sp>
      <p:pic>
        <p:nvPicPr>
          <p:cNvPr id="16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826" y="1695298"/>
            <a:ext cx="321869" cy="32186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27955" y="2167128"/>
            <a:ext cx="1905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060997" y="1869948"/>
            <a:ext cx="329184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9" name="Shape 14"/>
          <p:cNvSpPr/>
          <p:nvPr/>
        </p:nvSpPr>
        <p:spPr>
          <a:xfrm>
            <a:off x="7417613" y="1417320"/>
            <a:ext cx="1905610" cy="1143000"/>
          </a:xfrm>
          <a:prstGeom prst="roundRect">
            <a:avLst>
              <a:gd name="adj" fmla="val 9600"/>
            </a:avLst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8077810" y="1563624"/>
            <a:ext cx="585216" cy="585216"/>
          </a:xfrm>
          <a:prstGeom prst="ellipse">
            <a:avLst/>
          </a:prstGeom>
          <a:solidFill>
            <a:srgbClr val="0E4A66"/>
          </a:solidFill>
          <a:ln/>
        </p:spPr>
      </p:sp>
      <p:pic>
        <p:nvPicPr>
          <p:cNvPr id="21" name="Image 3" descr="icons/be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483" y="1695298"/>
            <a:ext cx="321869" cy="32186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17613" y="2167128"/>
            <a:ext cx="1905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350654" y="1869948"/>
            <a:ext cx="329184" cy="23774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24" name="Shape 18"/>
          <p:cNvSpPr/>
          <p:nvPr/>
        </p:nvSpPr>
        <p:spPr>
          <a:xfrm>
            <a:off x="9707270" y="1417320"/>
            <a:ext cx="1905610" cy="1143000"/>
          </a:xfrm>
          <a:prstGeom prst="roundRect">
            <a:avLst>
              <a:gd name="adj" fmla="val 9600"/>
            </a:avLst>
          </a:prstGeom>
          <a:solidFill>
            <a:srgbClr val="15203B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67467" y="1563624"/>
            <a:ext cx="585216" cy="58521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icons/user_gradua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9141" y="1695298"/>
            <a:ext cx="321869" cy="32186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07270" y="2167128"/>
            <a:ext cx="1905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32461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1188720" y="350215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738" y="3646170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58368" y="42976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Information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94944" y="48188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competitive &amp; government exam details in one platform.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2834640" y="32461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3474720" y="350215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icons/bel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8738" y="3646170"/>
            <a:ext cx="352044" cy="3520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944368" y="42976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Notifications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2980944" y="48188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for registration, admit card, answer key &amp; results.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5120640" y="32461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5760720" y="350215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icons/dash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4738" y="3646170"/>
            <a:ext cx="352044" cy="3520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5230368" y="42976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Dashboard</a:t>
            </a:r>
            <a:endParaRPr lang="en-US" sz="1250" dirty="0"/>
          </a:p>
        </p:txBody>
      </p:sp>
      <p:sp>
        <p:nvSpPr>
          <p:cNvPr id="43" name="Text 33"/>
          <p:cNvSpPr txBox="1"/>
          <p:nvPr/>
        </p:nvSpPr>
        <p:spPr>
          <a:xfrm>
            <a:off x="5266944" y="48188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tailored view of exams a student is preparing for.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7406640" y="32461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046720" y="350215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6" name="Image 8" descr="icons/calend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0738" y="3646170"/>
            <a:ext cx="352044" cy="352044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516368" y="42976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Calendar</a:t>
            </a:r>
            <a:endParaRPr lang="en-US" sz="1250" dirty="0"/>
          </a:p>
        </p:txBody>
      </p:sp>
      <p:sp>
        <p:nvSpPr>
          <p:cNvPr id="48" name="Text 37"/>
          <p:cNvSpPr txBox="1"/>
          <p:nvPr/>
        </p:nvSpPr>
        <p:spPr>
          <a:xfrm>
            <a:off x="7552944" y="48188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visibility of every important upcoming date.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9692640" y="3246120"/>
            <a:ext cx="1920240" cy="28346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10332720" y="350215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1" name="Image 9" descr="icons/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76738" y="3646170"/>
            <a:ext cx="352044" cy="352044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9802368" y="4297680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Updates</a:t>
            </a:r>
            <a:endParaRPr lang="en-US" sz="1250" dirty="0"/>
          </a:p>
        </p:txBody>
      </p:sp>
      <p:sp>
        <p:nvSpPr>
          <p:cNvPr id="53" name="Text 41"/>
          <p:cNvSpPr txBox="1"/>
          <p:nvPr/>
        </p:nvSpPr>
        <p:spPr>
          <a:xfrm>
            <a:off x="9838944" y="481888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need to repeatedly check official websites.</a:t>
            </a:r>
            <a:endParaRPr lang="en-US" sz="1050" dirty="0"/>
          </a:p>
        </p:txBody>
      </p:sp>
      <p:sp>
        <p:nvSpPr>
          <p:cNvPr id="54" name="Text 4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 &amp;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between students, the backend, and the admin panel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99616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6" name="Image 0" descr="icons/user_gradu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91056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61872" y="13716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945575" y="1371600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1C7293"/>
          </a:solidFill>
          <a:ln/>
        </p:spPr>
      </p:sp>
      <p:sp>
        <p:nvSpPr>
          <p:cNvPr id="9" name="Shape 6"/>
          <p:cNvSpPr/>
          <p:nvPr/>
        </p:nvSpPr>
        <p:spPr>
          <a:xfrm>
            <a:off x="9082735" y="1499616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0" name="Image 1" descr="icons/admi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4175" y="159105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658807" y="137160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1787652" y="2139696"/>
            <a:ext cx="219456" cy="20116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13" name="Shape 9"/>
          <p:cNvSpPr/>
          <p:nvPr/>
        </p:nvSpPr>
        <p:spPr>
          <a:xfrm>
            <a:off x="10184587" y="2139696"/>
            <a:ext cx="219456" cy="20116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2450592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065A82"/>
          </a:solidFill>
          <a:ln/>
        </p:spPr>
      </p:sp>
      <p:sp>
        <p:nvSpPr>
          <p:cNvPr id="15" name="Shape 11"/>
          <p:cNvSpPr/>
          <p:nvPr/>
        </p:nvSpPr>
        <p:spPr>
          <a:xfrm>
            <a:off x="685800" y="2578608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6" name="Image 2" descr="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700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61872" y="245059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945575" y="2450592"/>
            <a:ext cx="2697480" cy="713232"/>
          </a:xfrm>
          <a:prstGeom prst="roundRect">
            <a:avLst>
              <a:gd name="adj" fmla="val 12821"/>
            </a:avLst>
          </a:prstGeom>
          <a:solidFill>
            <a:srgbClr val="1C7293"/>
          </a:solidFill>
          <a:ln/>
        </p:spPr>
      </p:sp>
      <p:sp>
        <p:nvSpPr>
          <p:cNvPr id="19" name="Shape 14"/>
          <p:cNvSpPr/>
          <p:nvPr/>
        </p:nvSpPr>
        <p:spPr>
          <a:xfrm>
            <a:off x="9082735" y="2578608"/>
            <a:ext cx="457200" cy="45720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0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175" y="26700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658807" y="245059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Exam Update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1787652" y="3218688"/>
            <a:ext cx="219456" cy="20116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23" name="Shape 17"/>
          <p:cNvSpPr/>
          <p:nvPr/>
        </p:nvSpPr>
        <p:spPr>
          <a:xfrm>
            <a:off x="10184587" y="3218688"/>
            <a:ext cx="219456" cy="20116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24" name="Shape 18"/>
          <p:cNvSpPr/>
          <p:nvPr/>
        </p:nvSpPr>
        <p:spPr>
          <a:xfrm>
            <a:off x="548640" y="3529584"/>
            <a:ext cx="11094415" cy="822960"/>
          </a:xfrm>
          <a:prstGeom prst="roundRect">
            <a:avLst>
              <a:gd name="adj" fmla="val 13333"/>
            </a:avLst>
          </a:prstGeom>
          <a:solidFill>
            <a:srgbClr val="15203B"/>
          </a:solidFill>
          <a:ln/>
        </p:spPr>
      </p:sp>
      <p:sp>
        <p:nvSpPr>
          <p:cNvPr id="25" name="Shape 19"/>
          <p:cNvSpPr/>
          <p:nvPr/>
        </p:nvSpPr>
        <p:spPr>
          <a:xfrm>
            <a:off x="3764128" y="3675888"/>
            <a:ext cx="530352" cy="530352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3457" y="3795217"/>
            <a:ext cx="291694" cy="29169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49928" y="352958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C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&amp; REST APIs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3090672" y="4407408"/>
            <a:ext cx="219456" cy="20116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29" name="Shape 22"/>
          <p:cNvSpPr/>
          <p:nvPr/>
        </p:nvSpPr>
        <p:spPr>
          <a:xfrm>
            <a:off x="1554480" y="4718304"/>
            <a:ext cx="32918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691640" y="48463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7652" y="494233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286000" y="471830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8727948" y="4407408"/>
            <a:ext cx="219456" cy="201168"/>
          </a:xfrm>
          <a:prstGeom prst="downArrow">
            <a:avLst/>
          </a:prstGeom>
          <a:solidFill>
            <a:srgbClr val="8FA3B0"/>
          </a:solidFill>
          <a:ln/>
        </p:spPr>
      </p:sp>
      <p:sp>
        <p:nvSpPr>
          <p:cNvPr id="34" name="Shape 26"/>
          <p:cNvSpPr/>
          <p:nvPr/>
        </p:nvSpPr>
        <p:spPr>
          <a:xfrm>
            <a:off x="6949440" y="4718304"/>
            <a:ext cx="3776472" cy="713232"/>
          </a:xfrm>
          <a:prstGeom prst="roundRect">
            <a:avLst>
              <a:gd name="adj" fmla="val 12821"/>
            </a:avLst>
          </a:prstGeom>
          <a:solidFill>
            <a:srgbClr val="25D366"/>
          </a:solidFill>
          <a:ln/>
        </p:spPr>
      </p:sp>
      <p:sp>
        <p:nvSpPr>
          <p:cNvPr id="35" name="Shape 27"/>
          <p:cNvSpPr/>
          <p:nvPr/>
        </p:nvSpPr>
        <p:spPr>
          <a:xfrm>
            <a:off x="7086600" y="4846320"/>
            <a:ext cx="457200" cy="4572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36" name="Image 6" descr="icons/whatsap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493776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662672" y="4718304"/>
            <a:ext cx="2953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→ Notification</a:t>
            </a:r>
            <a:endParaRPr lang="en-US" sz="1250" dirty="0"/>
          </a:p>
        </p:txBody>
      </p:sp>
      <p:sp>
        <p:nvSpPr>
          <p:cNvPr id="38" name="Text 29"/>
          <p:cNvSpPr txBox="1"/>
          <p:nvPr/>
        </p:nvSpPr>
        <p:spPr>
          <a:xfrm>
            <a:off x="6949440" y="5541264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students identified by the backend are notified instantly on WhatsApp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&amp;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modules power the Aspirants platform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1773479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184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774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 with secure login and session handling.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6459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user_gradu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559" y="177347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16184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Selection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3774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choose the competitive exams they are preparing for.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41732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6459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Image 2" descr="icons/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19" y="177347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6184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Dashboard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23774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exams, deadlines and recent updates at a glance.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148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99" y="424235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Calendar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8463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exam, admit-card and result dates in one view.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1148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admi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559" y="4242359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7800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8463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manage manually verified examination updates.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114800"/>
            <a:ext cx="566928" cy="566928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31" name="Image 5" descr="icons/whatsap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319" y="4242359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Notification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8366760" y="48463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notifies relevant students of important updates.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Implementation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powering the Aspirants platform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630680" cy="310896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1630680" cy="365760"/>
          </a:xfrm>
          <a:prstGeom prst="roundRect">
            <a:avLst>
              <a:gd name="adj" fmla="val 25000"/>
            </a:avLst>
          </a:prstGeom>
          <a:solidFill>
            <a:srgbClr val="1520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1630680" cy="182880"/>
          </a:xfrm>
          <a:prstGeom prst="rect">
            <a:avLst/>
          </a:prstGeom>
          <a:solidFill>
            <a:srgbClr val="1520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35380" y="17007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9" name="Image 0" descr="icons/html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532" y="177393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21792" y="2176272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135380" y="23591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2" name="Image 1" descr="icons/cs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32" y="243230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" y="2834640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1135380" y="30175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15" name="Image 2" descr="icons/tailw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532" y="309067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" y="3493008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2435352" y="1188720"/>
            <a:ext cx="1630680" cy="310896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435352" y="1188720"/>
            <a:ext cx="1630680" cy="365760"/>
          </a:xfrm>
          <a:prstGeom prst="roundRect">
            <a:avLst>
              <a:gd name="adj" fmla="val 25000"/>
            </a:avLst>
          </a:prstGeom>
          <a:solidFill>
            <a:srgbClr val="15203B"/>
          </a:solidFill>
          <a:ln/>
        </p:spPr>
      </p:sp>
      <p:sp>
        <p:nvSpPr>
          <p:cNvPr id="19" name="Shape 14"/>
          <p:cNvSpPr/>
          <p:nvPr/>
        </p:nvSpPr>
        <p:spPr>
          <a:xfrm>
            <a:off x="2435352" y="1371600"/>
            <a:ext cx="1630680" cy="182880"/>
          </a:xfrm>
          <a:prstGeom prst="rect">
            <a:avLst/>
          </a:prstGeom>
          <a:solidFill>
            <a:srgbClr val="15203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2435352" y="1188720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022092" y="17007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22" name="Image 3" descr="icons/jav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244" y="177393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508504" y="2176272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022092" y="23591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25" name="Image 4" descr="icons/springbo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244" y="2432304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08504" y="2834640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322064" y="1188720"/>
            <a:ext cx="1630680" cy="310896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322064" y="1188720"/>
            <a:ext cx="1630680" cy="365760"/>
          </a:xfrm>
          <a:prstGeom prst="roundRect">
            <a:avLst>
              <a:gd name="adj" fmla="val 25000"/>
            </a:avLst>
          </a:prstGeom>
          <a:solidFill>
            <a:srgbClr val="15203B"/>
          </a:solidFill>
          <a:ln/>
        </p:spPr>
      </p:sp>
      <p:sp>
        <p:nvSpPr>
          <p:cNvPr id="29" name="Shape 22"/>
          <p:cNvSpPr/>
          <p:nvPr/>
        </p:nvSpPr>
        <p:spPr>
          <a:xfrm>
            <a:off x="4322064" y="1371600"/>
            <a:ext cx="1630680" cy="182880"/>
          </a:xfrm>
          <a:prstGeom prst="rect">
            <a:avLst/>
          </a:prstGeom>
          <a:solidFill>
            <a:srgbClr val="15203B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4322064" y="1188720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908804" y="17007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32" name="Image 5" descr="icons/mysq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1956" y="1773936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395216" y="2176272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08776" y="1188720"/>
            <a:ext cx="1630680" cy="310896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208776" y="1188720"/>
            <a:ext cx="1630680" cy="365760"/>
          </a:xfrm>
          <a:prstGeom prst="roundRect">
            <a:avLst>
              <a:gd name="adj" fmla="val 25000"/>
            </a:avLst>
          </a:prstGeom>
          <a:solidFill>
            <a:srgbClr val="15203B"/>
          </a:solidFill>
          <a:ln/>
        </p:spPr>
      </p:sp>
      <p:sp>
        <p:nvSpPr>
          <p:cNvPr id="36" name="Shape 28"/>
          <p:cNvSpPr/>
          <p:nvPr/>
        </p:nvSpPr>
        <p:spPr>
          <a:xfrm>
            <a:off x="6208776" y="1371600"/>
            <a:ext cx="1630680" cy="182880"/>
          </a:xfrm>
          <a:prstGeom prst="rect">
            <a:avLst/>
          </a:prstGeom>
          <a:solidFill>
            <a:srgbClr val="15203B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6208776" y="1188720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795516" y="17007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39" name="Image 6" descr="icons/jw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8668" y="1773936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281928" y="2176272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8095488" y="1188720"/>
            <a:ext cx="1630680" cy="310896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8095488" y="1188720"/>
            <a:ext cx="1630680" cy="365760"/>
          </a:xfrm>
          <a:prstGeom prst="roundRect">
            <a:avLst>
              <a:gd name="adj" fmla="val 25000"/>
            </a:avLst>
          </a:prstGeom>
          <a:solidFill>
            <a:srgbClr val="15203B"/>
          </a:solidFill>
          <a:ln/>
        </p:spPr>
      </p:sp>
      <p:sp>
        <p:nvSpPr>
          <p:cNvPr id="43" name="Shape 34"/>
          <p:cNvSpPr/>
          <p:nvPr/>
        </p:nvSpPr>
        <p:spPr>
          <a:xfrm>
            <a:off x="8095488" y="1371600"/>
            <a:ext cx="1630680" cy="182880"/>
          </a:xfrm>
          <a:prstGeom prst="rect">
            <a:avLst/>
          </a:prstGeom>
          <a:solidFill>
            <a:srgbClr val="15203B"/>
          </a:solidFill>
          <a:ln/>
        </p:spPr>
      </p:sp>
      <p:sp>
        <p:nvSpPr>
          <p:cNvPr id="44" name="Text 35"/>
          <p:cNvSpPr txBox="1"/>
          <p:nvPr/>
        </p:nvSpPr>
        <p:spPr>
          <a:xfrm>
            <a:off x="8095488" y="1188720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682228" y="17007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46" name="Image 7" descr="icons/whatsapp_bra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5380" y="1773936"/>
            <a:ext cx="310896" cy="310896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168640" y="2176272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</a:t>
            </a: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9982200" y="1188720"/>
            <a:ext cx="1630680" cy="310896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9982200" y="1188720"/>
            <a:ext cx="1630680" cy="365760"/>
          </a:xfrm>
          <a:prstGeom prst="roundRect">
            <a:avLst>
              <a:gd name="adj" fmla="val 25000"/>
            </a:avLst>
          </a:prstGeom>
          <a:solidFill>
            <a:srgbClr val="15203B"/>
          </a:solidFill>
          <a:ln/>
        </p:spPr>
      </p:sp>
      <p:sp>
        <p:nvSpPr>
          <p:cNvPr id="50" name="Shape 40"/>
          <p:cNvSpPr/>
          <p:nvPr/>
        </p:nvSpPr>
        <p:spPr>
          <a:xfrm>
            <a:off x="9982200" y="1371600"/>
            <a:ext cx="1630680" cy="182880"/>
          </a:xfrm>
          <a:prstGeom prst="rect">
            <a:avLst/>
          </a:prstGeom>
          <a:solidFill>
            <a:srgbClr val="15203B"/>
          </a:solidFill>
          <a:ln/>
        </p:spPr>
      </p:sp>
      <p:sp>
        <p:nvSpPr>
          <p:cNvPr id="51" name="Text 41"/>
          <p:cNvSpPr txBox="1"/>
          <p:nvPr/>
        </p:nvSpPr>
        <p:spPr>
          <a:xfrm>
            <a:off x="9982200" y="1188720"/>
            <a:ext cx="163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10568940" y="170078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53" name="Image 8" descr="icons/gi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42092" y="1773936"/>
            <a:ext cx="310896" cy="310896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10055352" y="2176272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50" dirty="0"/>
          </a:p>
        </p:txBody>
      </p:sp>
      <p:sp>
        <p:nvSpPr>
          <p:cNvPr id="55" name="Shape 44"/>
          <p:cNvSpPr/>
          <p:nvPr/>
        </p:nvSpPr>
        <p:spPr>
          <a:xfrm>
            <a:off x="10568940" y="235915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56" name="Image 9" descr="icons/githu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2092" y="2432304"/>
            <a:ext cx="310896" cy="310896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0055352" y="2834640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58" name="Shape 46"/>
          <p:cNvSpPr/>
          <p:nvPr/>
        </p:nvSpPr>
        <p:spPr>
          <a:xfrm>
            <a:off x="10568940" y="30175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59" name="Image 10" descr="icons/intellij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2092" y="3090672"/>
            <a:ext cx="310896" cy="310896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10055352" y="3493008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950" dirty="0"/>
          </a:p>
        </p:txBody>
      </p:sp>
      <p:sp>
        <p:nvSpPr>
          <p:cNvPr id="61" name="Shape 48"/>
          <p:cNvSpPr/>
          <p:nvPr/>
        </p:nvSpPr>
        <p:spPr>
          <a:xfrm>
            <a:off x="10568940" y="3675888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pic>
        <p:nvPicPr>
          <p:cNvPr id="62" name="Image 11" descr="icons/postm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42092" y="3749040"/>
            <a:ext cx="310896" cy="310896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10055352" y="4151376"/>
            <a:ext cx="1484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50" dirty="0"/>
          </a:p>
        </p:txBody>
      </p:sp>
      <p:sp>
        <p:nvSpPr>
          <p:cNvPr id="64" name="Text 50"/>
          <p:cNvSpPr txBox="1"/>
          <p:nvPr/>
        </p:nvSpPr>
        <p:spPr>
          <a:xfrm>
            <a:off x="548640" y="4480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FLOW</a:t>
            </a:r>
            <a:endParaRPr lang="en-US" sz="1100" dirty="0"/>
          </a:p>
        </p:txBody>
      </p:sp>
      <p:sp>
        <p:nvSpPr>
          <p:cNvPr id="65" name="Shape 51"/>
          <p:cNvSpPr/>
          <p:nvPr/>
        </p:nvSpPr>
        <p:spPr>
          <a:xfrm>
            <a:off x="548640" y="4864608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/>
        </p:spPr>
      </p:sp>
      <p:sp>
        <p:nvSpPr>
          <p:cNvPr id="66" name="Shape 52"/>
          <p:cNvSpPr/>
          <p:nvPr/>
        </p:nvSpPr>
        <p:spPr>
          <a:xfrm>
            <a:off x="676656" y="4992624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67" name="Image 12" descr="icons/glob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7123" y="5073091"/>
            <a:ext cx="241402" cy="241402"/>
          </a:xfrm>
          <a:prstGeom prst="rect">
            <a:avLst/>
          </a:prstGeom>
        </p:spPr>
      </p:pic>
      <p:sp>
        <p:nvSpPr>
          <p:cNvPr id="68" name="Text 53"/>
          <p:cNvSpPr txBox="1"/>
          <p:nvPr/>
        </p:nvSpPr>
        <p:spPr>
          <a:xfrm>
            <a:off x="1170432" y="4864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9" name="Shape 54"/>
          <p:cNvSpPr/>
          <p:nvPr/>
        </p:nvSpPr>
        <p:spPr>
          <a:xfrm>
            <a:off x="3063240" y="5093208"/>
            <a:ext cx="502920" cy="201168"/>
          </a:xfrm>
          <a:prstGeom prst="rightArrow">
            <a:avLst/>
          </a:prstGeom>
          <a:solidFill>
            <a:srgbClr val="8FA3B0"/>
          </a:solidFill>
          <a:ln/>
        </p:spPr>
      </p:sp>
      <p:sp>
        <p:nvSpPr>
          <p:cNvPr id="70" name="Shape 55"/>
          <p:cNvSpPr/>
          <p:nvPr/>
        </p:nvSpPr>
        <p:spPr>
          <a:xfrm>
            <a:off x="4160520" y="4864608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71" name="Shape 56"/>
          <p:cNvSpPr/>
          <p:nvPr/>
        </p:nvSpPr>
        <p:spPr>
          <a:xfrm>
            <a:off x="4288536" y="4992624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2" name="Image 13" descr="icons/serve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9003" y="5073091"/>
            <a:ext cx="241402" cy="241402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4782312" y="4864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</p:txBody>
      </p:sp>
      <p:sp>
        <p:nvSpPr>
          <p:cNvPr id="74" name="Shape 58"/>
          <p:cNvSpPr/>
          <p:nvPr/>
        </p:nvSpPr>
        <p:spPr>
          <a:xfrm>
            <a:off x="6675120" y="5093208"/>
            <a:ext cx="502920" cy="201168"/>
          </a:xfrm>
          <a:prstGeom prst="rightArrow">
            <a:avLst/>
          </a:prstGeom>
          <a:solidFill>
            <a:srgbClr val="8FA3B0"/>
          </a:solidFill>
          <a:ln/>
        </p:spPr>
      </p:sp>
      <p:sp>
        <p:nvSpPr>
          <p:cNvPr id="75" name="Shape 59"/>
          <p:cNvSpPr/>
          <p:nvPr/>
        </p:nvSpPr>
        <p:spPr>
          <a:xfrm>
            <a:off x="7772400" y="4864608"/>
            <a:ext cx="2468880" cy="658368"/>
          </a:xfrm>
          <a:prstGeom prst="roundRect">
            <a:avLst>
              <a:gd name="adj" fmla="val 13889"/>
            </a:avLst>
          </a:prstGeom>
          <a:solidFill>
            <a:srgbClr val="15203B"/>
          </a:solidFill>
          <a:ln/>
        </p:spPr>
      </p:sp>
      <p:sp>
        <p:nvSpPr>
          <p:cNvPr id="76" name="Shape 60"/>
          <p:cNvSpPr/>
          <p:nvPr/>
        </p:nvSpPr>
        <p:spPr>
          <a:xfrm>
            <a:off x="7900416" y="4992624"/>
            <a:ext cx="402336" cy="40233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7" name="Image 14" descr="icons/databas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0883" y="5073091"/>
            <a:ext cx="241402" cy="241402"/>
          </a:xfrm>
          <a:prstGeom prst="rect">
            <a:avLst/>
          </a:prstGeom>
        </p:spPr>
      </p:pic>
      <p:sp>
        <p:nvSpPr>
          <p:cNvPr id="78" name="Text 61"/>
          <p:cNvSpPr txBox="1"/>
          <p:nvPr/>
        </p:nvSpPr>
        <p:spPr>
          <a:xfrm>
            <a:off x="8394192" y="48646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79" name="Shape 62"/>
          <p:cNvSpPr/>
          <p:nvPr/>
        </p:nvSpPr>
        <p:spPr>
          <a:xfrm>
            <a:off x="548640" y="57607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DF1DC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80" name="Shape 63"/>
          <p:cNvSpPr/>
          <p:nvPr/>
        </p:nvSpPr>
        <p:spPr>
          <a:xfrm>
            <a:off x="658368" y="580644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1" name="Image 15" descr="icons/jwt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0664" y="5888736"/>
            <a:ext cx="201168" cy="201168"/>
          </a:xfrm>
          <a:prstGeom prst="rect">
            <a:avLst/>
          </a:prstGeom>
        </p:spPr>
      </p:pic>
      <p:sp>
        <p:nvSpPr>
          <p:cNvPr id="82" name="Text 64"/>
          <p:cNvSpPr txBox="1"/>
          <p:nvPr/>
        </p:nvSpPr>
        <p:spPr>
          <a:xfrm>
            <a:off x="1143000" y="5760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→  Secure Authentication</a:t>
            </a:r>
            <a:endParaRPr lang="en-US" sz="1000" dirty="0"/>
          </a:p>
        </p:txBody>
      </p:sp>
      <p:sp>
        <p:nvSpPr>
          <p:cNvPr id="83" name="Shape 65"/>
          <p:cNvSpPr/>
          <p:nvPr/>
        </p:nvSpPr>
        <p:spPr>
          <a:xfrm>
            <a:off x="7772400" y="57607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E4F8EA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84" name="Shape 66"/>
          <p:cNvSpPr/>
          <p:nvPr/>
        </p:nvSpPr>
        <p:spPr>
          <a:xfrm>
            <a:off x="7882128" y="5806440"/>
            <a:ext cx="365760" cy="3657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85" name="Image 16" descr="icons/whatsapp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5280" y="5879592"/>
            <a:ext cx="219456" cy="219456"/>
          </a:xfrm>
          <a:prstGeom prst="rect">
            <a:avLst/>
          </a:prstGeom>
        </p:spPr>
      </p:pic>
      <p:sp>
        <p:nvSpPr>
          <p:cNvPr id="86" name="Text 67"/>
          <p:cNvSpPr txBox="1"/>
          <p:nvPr/>
        </p:nvSpPr>
        <p:spPr>
          <a:xfrm>
            <a:off x="8366760" y="5760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API  →  Notifications</a:t>
            </a:r>
            <a:endParaRPr lang="en-US" sz="1000" dirty="0"/>
          </a:p>
        </p:txBody>
      </p:sp>
      <p:sp>
        <p:nvSpPr>
          <p:cNvPr id="87" name="Text 6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1E2E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Outcome, Future Scope &amp; Conclusion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1E2E5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353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97280" y="187452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examination information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" y="23591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22219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checking of websites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2706624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256946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Timely, reliable notifications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" y="305409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29169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exam tracking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34015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7280" y="32644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deadline management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1097280"/>
            <a:ext cx="5349240" cy="2606040"/>
          </a:xfrm>
          <a:prstGeom prst="roundRect">
            <a:avLst>
              <a:gd name="adj" fmla="val 4211"/>
            </a:avLst>
          </a:prstGeom>
          <a:solidFill>
            <a:srgbClr val="1E2E52"/>
          </a:solidFill>
          <a:ln/>
        </p:spPr>
      </p:sp>
      <p:sp>
        <p:nvSpPr>
          <p:cNvPr id="19" name="Shape 16"/>
          <p:cNvSpPr/>
          <p:nvPr/>
        </p:nvSpPr>
        <p:spPr>
          <a:xfrm>
            <a:off x="6537960" y="1325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1" descr="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42875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132320" y="13533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583680" y="201168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812280" y="187452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exam API integration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83680" y="235915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812280" y="2221992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web scraping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83680" y="270662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812280" y="256946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notification summaries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83680" y="305409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812280" y="29169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exam recommendations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83680" y="340156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812280" y="326440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notification channels &amp; analytics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3913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ROADMAP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48640" y="4251960"/>
            <a:ext cx="2051914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03504" y="4251960"/>
            <a:ext cx="19421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Verified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2618842" y="4558284"/>
            <a:ext cx="164592" cy="164592"/>
          </a:xfrm>
          <a:prstGeom prst="rightArrow">
            <a:avLst/>
          </a:prstGeom>
          <a:solidFill>
            <a:srgbClr val="8FA3B0"/>
          </a:solidFill>
          <a:ln/>
        </p:spPr>
      </p:sp>
      <p:sp>
        <p:nvSpPr>
          <p:cNvPr id="36" name="Shape 32"/>
          <p:cNvSpPr/>
          <p:nvPr/>
        </p:nvSpPr>
        <p:spPr>
          <a:xfrm>
            <a:off x="2801722" y="4251960"/>
            <a:ext cx="2051914" cy="777240"/>
          </a:xfrm>
          <a:prstGeom prst="roundRect">
            <a:avLst>
              <a:gd name="adj" fmla="val 10588"/>
            </a:avLst>
          </a:prstGeom>
          <a:solidFill>
            <a:srgbClr val="263A63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2856586" y="4251960"/>
            <a:ext cx="19421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871923" y="4558284"/>
            <a:ext cx="164592" cy="164592"/>
          </a:xfrm>
          <a:prstGeom prst="rightArrow">
            <a:avLst/>
          </a:prstGeom>
          <a:solidFill>
            <a:srgbClr val="8FA3B0"/>
          </a:solidFill>
          <a:ln/>
        </p:spPr>
      </p:sp>
      <p:sp>
        <p:nvSpPr>
          <p:cNvPr id="39" name="Shape 35"/>
          <p:cNvSpPr/>
          <p:nvPr/>
        </p:nvSpPr>
        <p:spPr>
          <a:xfrm>
            <a:off x="5054803" y="4251960"/>
            <a:ext cx="2051914" cy="777240"/>
          </a:xfrm>
          <a:prstGeom prst="roundRect">
            <a:avLst>
              <a:gd name="adj" fmla="val 10588"/>
            </a:avLst>
          </a:prstGeom>
          <a:solidFill>
            <a:srgbClr val="263A63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5109667" y="4251960"/>
            <a:ext cx="19421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7125005" y="4558284"/>
            <a:ext cx="164592" cy="164592"/>
          </a:xfrm>
          <a:prstGeom prst="rightArrow">
            <a:avLst/>
          </a:prstGeom>
          <a:solidFill>
            <a:srgbClr val="8FA3B0"/>
          </a:solidFill>
          <a:ln/>
        </p:spPr>
      </p:sp>
      <p:sp>
        <p:nvSpPr>
          <p:cNvPr id="42" name="Shape 38"/>
          <p:cNvSpPr/>
          <p:nvPr/>
        </p:nvSpPr>
        <p:spPr>
          <a:xfrm>
            <a:off x="7307885" y="4251960"/>
            <a:ext cx="2051914" cy="777240"/>
          </a:xfrm>
          <a:prstGeom prst="roundRect">
            <a:avLst>
              <a:gd name="adj" fmla="val 10588"/>
            </a:avLst>
          </a:prstGeom>
          <a:solidFill>
            <a:srgbClr val="263A63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7362749" y="4251960"/>
            <a:ext cx="19421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9378086" y="4558284"/>
            <a:ext cx="164592" cy="164592"/>
          </a:xfrm>
          <a:prstGeom prst="rightArrow">
            <a:avLst/>
          </a:prstGeom>
          <a:solidFill>
            <a:srgbClr val="8FA3B0"/>
          </a:solidFill>
          <a:ln/>
        </p:spPr>
      </p:sp>
      <p:sp>
        <p:nvSpPr>
          <p:cNvPr id="45" name="Shape 41"/>
          <p:cNvSpPr/>
          <p:nvPr/>
        </p:nvSpPr>
        <p:spPr>
          <a:xfrm>
            <a:off x="9560966" y="4251960"/>
            <a:ext cx="2051914" cy="777240"/>
          </a:xfrm>
          <a:prstGeom prst="roundRect">
            <a:avLst>
              <a:gd name="adj" fmla="val 10588"/>
            </a:avLst>
          </a:prstGeom>
          <a:solidFill>
            <a:srgbClr val="263A63"/>
          </a:solidFill>
          <a:ln/>
        </p:spPr>
      </p:sp>
      <p:sp>
        <p:nvSpPr>
          <p:cNvPr id="46" name="Text 42"/>
          <p:cNvSpPr txBox="1"/>
          <p:nvPr/>
        </p:nvSpPr>
        <p:spPr>
          <a:xfrm>
            <a:off x="9615830" y="4251960"/>
            <a:ext cx="194218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F1930"/>
          </a:solidFill>
          <a:ln w="12700">
            <a:solidFill>
              <a:srgbClr val="26375C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Aspirants brings every competitive-exam update onto one trusted, personalized platform — making exam preparation more organized, timely, and manageable for every aspirant.</a:t>
            </a:r>
            <a:endParaRPr lang="en-US" sz="1300" dirty="0"/>
          </a:p>
        </p:txBody>
      </p:sp>
      <p:sp>
        <p:nvSpPr>
          <p:cNvPr id="49" name="Text 4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2026-09-14T06:30:25Z</dcterms:created>
  <dcterms:modified xsi:type="dcterms:W3CDTF">2026-09-14T06:30:25Z</dcterms:modified>
</cp:coreProperties>
</file>